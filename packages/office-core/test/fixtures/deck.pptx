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12% year on year</a:t>
            </a:r>
          </a:p>
          <a:p>
            <a:pPr lvl="1"/>
            <a:r>
              <a:t>Driven by the northern region</a:t>
            </a:r>
          </a:p>
          <a:p>
            <a:pPr/>
            <a:r>
              <a:t>Costs held flat</a:t>
            </a:r>
          </a:p>
          <a:p>
            <a:pPr/>
            <a:r>
              <a:t>Hiring plan on track with a very long line that has to wrap around onto a second line of 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C0392B"/>
                </a:solidFill>
                <a:latin typeface="Georgia"/>
              </a:rPr>
              <a:t>Free text box</a:t>
            </a:r>
          </a:p>
          <a:p>
            <a:pPr algn="r"/>
            <a:r>
              <a:rPr i="1" u="sng"/>
              <a:t>italic and underlined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1828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Rect</a:t>
            </a:r>
          </a:p>
        </p:txBody>
      </p:sp>
      <p:sp>
        <p:nvSpPr>
          <p:cNvPr id="4" name="Oval 3"/>
          <p:cNvSpPr/>
          <p:nvPr/>
        </p:nvSpPr>
        <p:spPr>
          <a:xfrm>
            <a:off x="2743200" y="1645920"/>
            <a:ext cx="1828800" cy="914400"/>
          </a:xfrm>
          <a:prstGeom prst="ellipse">
            <a:avLst/>
          </a:prstGeom>
          <a:solidFill>
            <a:srgbClr val="F1C40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Oval</a:t>
            </a:r>
          </a:p>
        </p:txBody>
      </p:sp>
      <p:sp>
        <p:nvSpPr>
          <p:cNvPr id="5" name="Right Arrow 4"/>
          <p:cNvSpPr/>
          <p:nvPr/>
        </p:nvSpPr>
        <p:spPr>
          <a:xfrm rot="1200000">
            <a:off x="5029200" y="1645920"/>
            <a:ext cx="1828800" cy="9144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182880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Round</a:t>
            </a:r>
          </a:p>
        </p:txBody>
      </p:sp>
      <p:pic>
        <p:nvPicPr>
          <p:cNvPr id="7" name="Picture 6" descr="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926080"/>
            <a:ext cx="1371600" cy="10058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20624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457200" y="5943600"/>
            <a:ext cx="5943600" cy="182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